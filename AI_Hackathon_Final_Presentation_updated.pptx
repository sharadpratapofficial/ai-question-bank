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3" r:id="rId2"/>
    <p:sldId id="256" r:id="rId3"/>
    <p:sldId id="257" r:id="rId4"/>
    <p:sldId id="265" r:id="rId5"/>
    <p:sldId id="267" r:id="rId6"/>
    <p:sldId id="272" r:id="rId7"/>
    <p:sldId id="271" r:id="rId8"/>
    <p:sldId id="268" r:id="rId9"/>
    <p:sldId id="274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29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67D3-34EF-7623-638B-E15949DC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277EB-920F-37E5-1E70-6F706C214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5E3E6-9732-01A0-60A8-8A2C7ECF9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56FF-554C-56FB-E68B-0EC19A072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8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5ECAF-DFE5-0E39-844D-F881C636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AB802-1B0C-DB38-1082-7B62E6C17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17B03-F83A-8301-27D8-14D8746AD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CAD7D-F19D-2C68-4841-BDB52350F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9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AF767-175C-0560-E89C-C20685BC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AFC19-50FB-8AFD-4FA0-3D2958139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5B1AA-7059-A133-9AE4-CACB3EE81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D5B6-1895-DB38-7223-9562D24FE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76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AFB6-A93C-0D79-E46E-DA38D9B5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189B4-466E-E6A5-41E7-C2AE64CA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D8463-132F-8D2B-31A4-DC5AE284E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6D75-B2FC-8379-35BF-7EDD9D169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5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05AF-6E8B-70AC-1012-7FFBE350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2965E-DD11-6D76-9A6A-B279C3016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FAA57-246A-BAF2-73FB-9B8C6FC30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119C3-7901-5D85-A85B-9D96E6C03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51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3EC9-8BF8-D70E-6A8C-984964CF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8AE1A-FF5E-5521-361E-C7C102752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15E4E-2412-327E-8737-2C0400E0A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C1BEF-CDDF-AD87-EB60-5B79FB5DD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7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BLU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82429-81AE-0311-2847-F8D4B992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607" y="-52208"/>
            <a:ext cx="12582914" cy="70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9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514139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5934" y="63387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HACKATHON  |  GRAND FINALE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2726171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>
              <a:buNone/>
            </a:pPr>
            <a:r>
              <a:rPr sz="4200" b="1" i="0">
                <a:solidFill>
                  <a:srgbClr val="0B1F4D"/>
                </a:solidFill>
                <a:latin typeface="Aptos Display"/>
              </a:rPr>
              <a:t>AI-based Question Bank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58368" y="3738642"/>
            <a:ext cx="1920240" cy="0"/>
          </a:xfrm>
          <a:prstGeom prst="line">
            <a:avLst/>
          </a:prstGeom>
          <a:noFill/>
          <a:ln w="50800">
            <a:solidFill>
              <a:srgbClr val="1B75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113906"/>
            <a:ext cx="51206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sz="2000" b="1" i="0">
                <a:solidFill>
                  <a:srgbClr val="0B1F4D"/>
                </a:solidFill>
                <a:latin typeface="Aptos"/>
              </a:rPr>
              <a:t>Team 1  ·  AI Content Wallah</a:t>
            </a:r>
          </a:p>
        </p:txBody>
      </p:sp>
      <p:sp>
        <p:nvSpPr>
          <p:cNvPr id="12" name="Text 10"/>
          <p:cNvSpPr/>
          <p:nvPr/>
        </p:nvSpPr>
        <p:spPr>
          <a:xfrm>
            <a:off x="6788075" y="3748507"/>
            <a:ext cx="5013064" cy="28847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5D6B8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041495-5401-DD5B-FA8C-655A886AB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11" y="28135"/>
            <a:ext cx="1472633" cy="14726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5B3582A-819F-DD96-2903-035195F87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400" y="149014"/>
            <a:ext cx="3003899" cy="208834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" y="4617720"/>
            <a:ext cx="557784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 dirty="0">
                <a:solidFill>
                  <a:srgbClr val="0B1F4D"/>
                </a:solidFill>
                <a:latin typeface="Aptos"/>
              </a:rPr>
              <a:t>Led by Lovee Mittal</a:t>
            </a:r>
            <a:r>
              <a:rPr sz="1450" b="0" i="0" dirty="0">
                <a:solidFill>
                  <a:srgbClr val="5D6B82"/>
                </a:solidFill>
                <a:latin typeface="Aptos"/>
              </a:rPr>
              <a:t> — 3 years in Academics R&amp;D, paper-setter for AITS, Real Test, Milestone &amp; AIR.</a:t>
            </a:r>
          </a:p>
          <a:p>
            <a:pPr>
              <a:lnSpc>
                <a:spcPct val="112000"/>
              </a:lnSpc>
            </a:pPr>
            <a:r>
              <a:rPr sz="1450" b="1" i="0" dirty="0">
                <a:solidFill>
                  <a:srgbClr val="1B75BB"/>
                </a:solidFill>
                <a:latin typeface="Aptos"/>
              </a:rPr>
              <a:t>Our mission   </a:t>
            </a:r>
            <a:r>
              <a:rPr sz="1450" b="0" i="0" dirty="0">
                <a:solidFill>
                  <a:srgbClr val="5D6B82"/>
                </a:solidFill>
                <a:latin typeface="Aptos"/>
              </a:rPr>
              <a:t>make question-bank and test-paper creation fast, accurate and AI-assisted.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395728"/>
            <a:ext cx="4983480" cy="37033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2615184"/>
            <a:ext cx="4434840" cy="32826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1B75BB"/>
                </a:solidFill>
                <a:latin typeface="Aptos"/>
              </a:rPr>
              <a:t>T H E   C O R E   P R O B L E 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50" b="1" i="0">
                <a:solidFill>
                  <a:srgbClr val="0B1F4D"/>
                </a:solidFill>
                <a:latin typeface="Aptos Display"/>
              </a:rPr>
              <a:t>Building exam papers is manual, expert &amp; slow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350" b="0" i="0">
                <a:solidFill>
                  <a:srgbClr val="5D6B82"/>
                </a:solidFill>
                <a:latin typeface="Aptos"/>
              </a:rPr>
              <a:t>Questions typed from PDFs by hand — heavy DTP load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350" b="0" i="0">
                <a:solidFill>
                  <a:srgbClr val="5D6B82"/>
                </a:solidFill>
                <a:latin typeface="Aptos"/>
              </a:rPr>
              <a:t>Every answer key checked &amp; every solution written manually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350" b="0" i="0">
                <a:solidFill>
                  <a:srgbClr val="5D6B82"/>
                </a:solidFill>
                <a:latin typeface="Aptos"/>
              </a:rPr>
              <a:t>Solution videos recorded one question at a time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350" b="0" i="0">
                <a:solidFill>
                  <a:srgbClr val="5D6B82"/>
                </a:solidFill>
                <a:latin typeface="Aptos"/>
              </a:rPr>
              <a:t>Each paper balanced by syllabus &amp; difficulty by hand</a:t>
            </a:r>
          </a:p>
          <a:p>
            <a:pPr>
              <a:lnSpc>
                <a:spcPct val="108000"/>
              </a:lnSpc>
            </a:pPr>
            <a:r>
              <a:rPr sz="1350" b="1" i="1">
                <a:solidFill>
                  <a:srgbClr val="1B75BB"/>
                </a:solidFill>
                <a:latin typeface="Aptos"/>
              </a:rPr>
              <a:t>Error-prone, faculty-heavy and impossible to scale across batches &amp; verticals.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6841510-84B0-DEA0-A6AC-A5D88F70C4A3}"/>
              </a:ext>
            </a:extLst>
          </p:cNvPr>
          <p:cNvGrpSpPr/>
          <p:nvPr/>
        </p:nvGrpSpPr>
        <p:grpSpPr>
          <a:xfrm>
            <a:off x="0" y="-403413"/>
            <a:ext cx="12191695" cy="6595337"/>
            <a:chOff x="0" y="-403413"/>
            <a:chExt cx="12191695" cy="6595337"/>
          </a:xfrm>
        </p:grpSpPr>
        <p:sp>
          <p:nvSpPr>
            <p:cNvPr id="3" name="Text 1"/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Introduction &amp; Implementation at Organisational / Departmental Level</a:t>
              </a:r>
              <a:endParaRPr lang="en-US" sz="3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978408" y="2496311"/>
              <a:ext cx="10241280" cy="3695613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endParaRPr lang="en-US" dirty="0"/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D55C6D32-2202-1D11-8613-F66F58AC4BD5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1AC391-52BB-718D-8F92-5A2D9F48E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6518049-22E8-10B6-3BF2-4A2AF3EB8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E46EF8A1-F619-EC73-B47C-9F39078B0A3E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58368" y="2331720"/>
            <a:ext cx="3502152" cy="1664208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" y="2496312"/>
            <a:ext cx="3081528" cy="13533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Scope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Generate, verify &amp; assemble high-quality test papers across educational and competitive exam verticals.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2331720"/>
            <a:ext cx="3502152" cy="1664208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2496312"/>
            <a:ext cx="3081528" cy="13533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Ownership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Content Strategy team with Technology, Product &amp; AI; SMEs from each vertical own domain validation &amp; QA.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2331720"/>
            <a:ext cx="3502152" cy="1664208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496312"/>
            <a:ext cx="3081528" cy="135331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Required Data / Systems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PW servers / AWS for app &amp; DB hosting, enterprise AI API access, and the current QBG question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78808"/>
            <a:ext cx="7223760" cy="18288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343400"/>
            <a:ext cx="6803136" cy="151790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Integrations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10+ AI provider APIs —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Gemini, OpenAI, Anthropic, OpenRouter, Groq, Grok, NVIDIA, Fireworks (+ local)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Supabase —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Postgres database, Auth &amp; file Storage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Media &amp; math —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ElevenLabs / Edge TTS for narration · Wiris MathType for equations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Content I/O —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PDF / Word import &amp; export · existing QBG bank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4178808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 w="12700">
            <a:solidFill>
              <a:srgbClr val="CFE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361688"/>
            <a:ext cx="3081528" cy="1463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8E5A"/>
                </a:solidFill>
                <a:latin typeface="Aptos Display"/>
              </a:rPr>
              <a:t>Rollout Timeline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1E8E5A"/>
                </a:solidFill>
                <a:latin typeface="Aptos Display"/>
              </a:rPr>
              <a:t>9 Months</a:t>
            </a:r>
          </a:p>
          <a:p>
            <a:pPr>
              <a:lnSpc>
                <a:spcPct val="105000"/>
              </a:lnSpc>
            </a:pPr>
            <a:r>
              <a:rPr sz="1300" b="0" i="0">
                <a:solidFill>
                  <a:srgbClr val="5D6B82"/>
                </a:solidFill>
                <a:latin typeface="Aptos"/>
              </a:rPr>
              <a:t>Phased go-live, vertical by vertical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D849-D4AA-4B59-0825-B9E37DC7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A6C62C1-F694-217E-4C6D-DC3EA993D429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2742450-A5D9-1FD6-F2DC-D3766748CBFC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B287EEB-CA26-0196-9B27-30D69D4DD914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Adaptability &amp; Applicability in the </a:t>
              </a:r>
              <a:r>
                <a:rPr lang="en-US" sz="3000" b="1" dirty="0" err="1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Organisation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D25434B7-2618-0634-D7B6-DC5506EFC18B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B9A966CD-D0D2-3589-45E7-3FAFFEE46796}"/>
                </a:ext>
              </a:extLst>
            </p:cNvPr>
            <p:cNvSpPr/>
            <p:nvPr/>
          </p:nvSpPr>
          <p:spPr>
            <a:xfrm>
              <a:off x="658368" y="2395728"/>
              <a:ext cx="10881360" cy="8686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sz="1550" b="0" i="0" dirty="0">
                  <a:solidFill>
                    <a:srgbClr val="5D6B82"/>
                  </a:solidFill>
                  <a:latin typeface="Aptos"/>
                </a:rPr>
                <a:t>The platform sits on top of the </a:t>
              </a:r>
              <a:r>
                <a:rPr lang="en-US" sz="1550" b="0" i="0" dirty="0">
                  <a:solidFill>
                    <a:srgbClr val="5D6B82"/>
                  </a:solidFill>
                  <a:latin typeface="Aptos"/>
                </a:rPr>
                <a:t>copy of </a:t>
              </a:r>
              <a:r>
                <a:rPr sz="1550" b="0" i="0" dirty="0">
                  <a:solidFill>
                    <a:srgbClr val="5D6B82"/>
                  </a:solidFill>
                  <a:latin typeface="Aptos"/>
                </a:rPr>
                <a:t>existing QBG database and plugs into every academic content workflow — from a single faculty member building one test to a central team producing thousands of papers across verticals.</a:t>
              </a:r>
              <a:endParaRPr lang="en-US" dirty="0"/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F2523F34-5398-E663-358C-3F935F49E6A2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9D8980-A5CB-A8AB-89F8-47EF3BD53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9CC10D-6E1A-1C5D-6C79-0F871335E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F3097927-FBD2-F964-8BAA-84A38E57A573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58368" y="3401568"/>
            <a:ext cx="3456432" cy="2706624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3584448"/>
            <a:ext cx="3072384" cy="234086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Where it applies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JEE, NEET &amp; Foundation / board verticals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AITS, Real Test, Milestone, AIR &amp; custom papers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Online and offline batches, every centre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Hindi + regional vernacular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401568"/>
            <a:ext cx="3456432" cy="270662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2855" y="3584448"/>
            <a:ext cx="3072384" cy="234086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How it adapts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Model-agnostic — 10+ AI providers, swap per task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Ingests any PDF / Word source paper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Configurable exam pattern, difficulty &amp; syllabus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Role-based access + per-user API keys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3401568"/>
            <a:ext cx="3456432" cy="2706624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3584448"/>
            <a:ext cx="3072384" cy="2340864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Adoption &amp; scalability risks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AI errors → human-in-the-loop at every step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Low-quality scans → multi-provider fallback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Cost at scale → usage governance &amp; caching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Phased, vertical-by-vertical rollout</a:t>
            </a:r>
          </a:p>
        </p:txBody>
      </p:sp>
    </p:spTree>
    <p:extLst>
      <p:ext uri="{BB962C8B-B14F-4D97-AF65-F5344CB8AC3E}">
        <p14:creationId xmlns:p14="http://schemas.microsoft.com/office/powerpoint/2010/main" val="69053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B339-3A3E-E56C-1DC9-4008C10E7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2000F50-225E-7FEE-7F45-E28D90A878C1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1B2D5D70-C566-F4E8-C1FD-2F57B609AEF4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3973039-5A63-7B11-113B-AA87D77D7978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ROI: Revenue Upliftment or Cost Saving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C3411BB6-B3B3-17F5-2CA5-48B663452F45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B3F4D6A4-73A9-884A-17EA-CC1E966A0023}"/>
                </a:ext>
              </a:extLst>
            </p:cNvPr>
            <p:cNvSpPr/>
            <p:nvPr/>
          </p:nvSpPr>
          <p:spPr>
            <a:xfrm>
              <a:off x="658368" y="6327648"/>
              <a:ext cx="10881360" cy="4114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sz="1050" b="0" i="1">
                  <a:solidFill>
                    <a:srgbClr val="5D6B82"/>
                  </a:solidFill>
                  <a:latin typeface="Aptos"/>
                </a:rPr>
                <a:t>ROI = (Annual benefit − Annual running cost − One-time build) ÷ (Running + Build).  Modelled at full deployment: 300 staff, 240 working days/yr.  Source: AI Initiative Impact workbook (Team 1).</a:t>
              </a:r>
              <a:endParaRPr lang="en-US" dirty="0"/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59F7AB15-F6C9-8DD4-FBA8-EED8463AB9A3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051157-A657-71FC-7319-B9AA2F635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A56BCA9-B291-9F2A-D0CF-7142CC8EA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A8ABF8A4-B6BA-D538-6249-E5BE8CFBE006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58368" y="23317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478024"/>
            <a:ext cx="2331720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1E8E5A"/>
                </a:solidFill>
                <a:latin typeface="Aptos Display"/>
              </a:rPr>
              <a:t>₹28.2 Cr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D6B82"/>
                </a:solidFill>
                <a:latin typeface="Aptos"/>
              </a:rPr>
              <a:t>Net annual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23317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478024"/>
            <a:ext cx="2331720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1E8E5A"/>
                </a:solidFill>
                <a:latin typeface="Aptos Display"/>
              </a:rPr>
              <a:t>~1,000%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D6B82"/>
                </a:solidFill>
                <a:latin typeface="Aptos"/>
              </a:rPr>
              <a:t>Year-1 ROI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3317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2478024"/>
            <a:ext cx="2331720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1B75BB"/>
                </a:solidFill>
                <a:latin typeface="Aptos Display"/>
              </a:rPr>
              <a:t>~4 days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D6B82"/>
                </a:solidFill>
                <a:latin typeface="Aptos"/>
              </a:rPr>
              <a:t>Payback period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233172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2478024"/>
            <a:ext cx="2331720" cy="10789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 i="0">
                <a:solidFill>
                  <a:srgbClr val="1B75BB"/>
                </a:solidFill>
                <a:latin typeface="Aptos Display"/>
              </a:rPr>
              <a:t>4.06 L hrs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D6B82"/>
                </a:solidFill>
                <a:latin typeface="Aptos"/>
              </a:rPr>
              <a:t>Saved / year · 300 staff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50208"/>
            <a:ext cx="5285232" cy="2212848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 w="12700">
            <a:solidFill>
              <a:srgbClr val="CFE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114800"/>
            <a:ext cx="4937760" cy="190195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 i="0" dirty="0">
                <a:solidFill>
                  <a:srgbClr val="1E8E5A"/>
                </a:solidFill>
                <a:latin typeface="Aptos Display"/>
              </a:rPr>
              <a:t>Where the value comes from</a:t>
            </a:r>
            <a:r>
              <a:rPr sz="1300" b="1" i="0" dirty="0">
                <a:solidFill>
                  <a:srgbClr val="1E8E5A"/>
                </a:solidFill>
                <a:latin typeface="Aptos"/>
              </a:rPr>
              <a:t>   ₹30.6 Cr / yr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1E8E5A"/>
                </a:solidFill>
                <a:latin typeface="Aptos"/>
              </a:rPr>
              <a:t>•  </a:t>
            </a:r>
            <a:r>
              <a:rPr sz="1250" b="1" i="0" dirty="0">
                <a:solidFill>
                  <a:srgbClr val="0B1F4D"/>
                </a:solidFill>
                <a:latin typeface="Aptos"/>
              </a:rPr>
              <a:t>Time saved → ₹28.6 Cr  </a:t>
            </a:r>
            <a:r>
              <a:rPr sz="1250" b="0" i="0" dirty="0">
                <a:solidFill>
                  <a:srgbClr val="5D6B82"/>
                </a:solidFill>
                <a:latin typeface="Aptos"/>
              </a:rPr>
              <a:t>across 300 staff — AI-assisted QC, auto solutions, bulk typing &amp; coordination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 dirty="0">
                <a:solidFill>
                  <a:srgbClr val="1E8E5A"/>
                </a:solidFill>
                <a:latin typeface="Aptos"/>
              </a:rPr>
              <a:t>•  </a:t>
            </a:r>
            <a:r>
              <a:rPr sz="1250" b="1" i="0" dirty="0">
                <a:solidFill>
                  <a:srgbClr val="0B1F4D"/>
                </a:solidFill>
                <a:latin typeface="Aptos"/>
              </a:rPr>
              <a:t>New revenue → ₹2.0 Cr  </a:t>
            </a:r>
            <a:r>
              <a:rPr sz="1250" b="0" i="0" dirty="0">
                <a:solidFill>
                  <a:srgbClr val="5D6B82"/>
                </a:solidFill>
                <a:latin typeface="Aptos"/>
              </a:rPr>
              <a:t>QC platform licensed to external coaching institutes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i="0" dirty="0">
                <a:solidFill>
                  <a:srgbClr val="1E8E5A"/>
                </a:solidFill>
                <a:latin typeface="Aptos"/>
              </a:rPr>
              <a:t>•  </a:t>
            </a:r>
            <a:r>
              <a:rPr sz="1250" b="0" i="0" dirty="0">
                <a:solidFill>
                  <a:srgbClr val="5D6B82"/>
                </a:solidFill>
                <a:latin typeface="Aptos"/>
              </a:rPr>
              <a:t>Faculty 3 hrs→30 min QC · DTP 6 hrs→2 min typing · video 1 day→30 min / 100 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3950208"/>
            <a:ext cx="5285232" cy="2212848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47104" y="4114800"/>
            <a:ext cx="4937760" cy="1901952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 i="0">
                <a:solidFill>
                  <a:srgbClr val="0B1F4D"/>
                </a:solidFill>
                <a:latin typeface="Aptos Display"/>
              </a:rPr>
              <a:t>What it costs</a:t>
            </a:r>
            <a:r>
              <a:rPr sz="1300" b="1" i="0">
                <a:solidFill>
                  <a:srgbClr val="1B75BB"/>
                </a:solidFill>
                <a:latin typeface="Aptos"/>
              </a:rPr>
              <a:t>   ₹2.47 Cr / yr running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One-time build → ₹31.5 L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solution design, build &amp; QA, AI tooling, onboarding &amp; data setup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Annual running → ₹2.47 Cr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LLM APIs (50 L questions QC), storage, infra subscriptions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Biggest line → 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SME review time of the ~20% of questions the AI flags for a human</a:t>
            </a:r>
          </a:p>
        </p:txBody>
      </p:sp>
    </p:spTree>
    <p:extLst>
      <p:ext uri="{BB962C8B-B14F-4D97-AF65-F5344CB8AC3E}">
        <p14:creationId xmlns:p14="http://schemas.microsoft.com/office/powerpoint/2010/main" val="2229616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C85F-1B0F-FF59-408C-A49AAAF1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7827-6E50-99A4-B294-AB62B0F43A15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D2CECCE3-DF34-12F1-C8F6-231B5C424CD9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447F67DE-37D7-4590-4EEB-DC19B7B125F1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MVP Content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D8E30F7-DC5C-F91E-CF57-96FA0D584308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D16E9785-F8AF-A3C7-1FFB-E6891388E82D}"/>
                </a:ext>
              </a:extLst>
            </p:cNvPr>
            <p:cNvSpPr/>
            <p:nvPr/>
          </p:nvSpPr>
          <p:spPr>
            <a:xfrm>
              <a:off x="658368" y="2377440"/>
              <a:ext cx="4709160" cy="3886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2000"/>
                </a:lnSpc>
                <a:spcAft>
                  <a:spcPts val="800"/>
                </a:spcAft>
              </a:pPr>
              <a:r>
                <a:rPr sz="1800" b="1" i="0">
                  <a:solidFill>
                    <a:srgbClr val="0B1F4D"/>
                  </a:solidFill>
                  <a:latin typeface="Aptos Display"/>
                </a:rPr>
                <a:t>Agentic QC — papers checked by a team of AI agents</a:t>
              </a:r>
              <a:endParaRPr lang="en-US" dirty="0"/>
            </a:p>
            <a:p>
              <a:pPr>
                <a:lnSpc>
                  <a:spcPct val="108000"/>
                </a:lnSpc>
                <a:spcAft>
                  <a:spcPts val="1000"/>
                </a:spcAft>
              </a:pPr>
              <a:r>
                <a:rPr sz="1450" b="0" i="0">
                  <a:solidFill>
                    <a:srgbClr val="5D6B82"/>
                  </a:solidFill>
                  <a:latin typeface="Aptos"/>
                </a:rPr>
                <a:t>Point a full paper at multiple QC agents running in parallel. Each solves and checks the questions; an aggregator then votes on the final answer key.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1–3 parallel QC agents — choose provider + model for each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Flags wrong / suspicious answers, out-of-syllabus &amp; pattern issues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Exam-aware: JEE Main, JEE Advanced, NEET or custom patterns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AI clears ~80%; humans review only the flagged ~20%</a:t>
              </a:r>
            </a:p>
            <a:p>
              <a:pPr>
                <a:lnSpc>
                  <a:spcPct val="105000"/>
                </a:lnSpc>
                <a:spcBef>
                  <a:spcPts val="600"/>
                </a:spcBef>
              </a:pPr>
              <a:r>
                <a:rPr sz="1350" b="1" i="1">
                  <a:solidFill>
                    <a:srgbClr val="1B75BB"/>
                  </a:solidFill>
                  <a:latin typeface="Aptos"/>
                </a:rPr>
                <a:t>Faculty QC time per test: 3 hrs → 30 min.</a:t>
              </a:r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7F8B7F83-6C14-7111-AC42-097FFBE9C76C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6DCFAE9-D386-BD9C-EB7F-87189647D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0253159-A264-487C-C7D3-7AE406D4A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2E26BB48-B2F7-F74E-934A-250B45AC3FD8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669280" y="2450592"/>
            <a:ext cx="5989320" cy="3743553"/>
          </a:xfrm>
          <a:prstGeom prst="roundRect">
            <a:avLst>
              <a:gd name="adj" fmla="val 4000"/>
            </a:avLst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gentic-q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395728"/>
            <a:ext cx="5989320" cy="3743553"/>
          </a:xfrm>
          <a:prstGeom prst="rect">
            <a:avLst/>
          </a:prstGeom>
          <a:ln w="15875">
            <a:solidFill>
              <a:srgbClr val="0B1F4D"/>
            </a:solidFill>
          </a:ln>
        </p:spPr>
      </p:pic>
    </p:spTree>
    <p:extLst>
      <p:ext uri="{BB962C8B-B14F-4D97-AF65-F5344CB8AC3E}">
        <p14:creationId xmlns:p14="http://schemas.microsoft.com/office/powerpoint/2010/main" val="284411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4C19-3DA8-7C0E-A61C-27B1BCEE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E6C7DE1-33FE-20F8-305B-D15DB87B2EFD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8FD33BF9-D915-ECED-AC74-4D93017B894E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20AE7A5-4599-A793-861D-8D3C562BC380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MVP Content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FE8EC9CE-9759-6D70-5092-B2037C9CF709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4E6017F-1028-057B-E78D-8EB284F01D77}"/>
                </a:ext>
              </a:extLst>
            </p:cNvPr>
            <p:cNvSpPr/>
            <p:nvPr/>
          </p:nvSpPr>
          <p:spPr>
            <a:xfrm>
              <a:off x="658368" y="2377440"/>
              <a:ext cx="4709160" cy="3886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2000"/>
                </a:lnSpc>
                <a:spcAft>
                  <a:spcPts val="800"/>
                </a:spcAft>
              </a:pPr>
              <a:r>
                <a:rPr sz="1800" b="1" i="0">
                  <a:solidFill>
                    <a:srgbClr val="0B1F4D"/>
                  </a:solidFill>
                  <a:latin typeface="Aptos Display"/>
                </a:rPr>
                <a:t>AI video solutions — auto-generated &amp; narrated</a:t>
              </a:r>
              <a:endParaRPr lang="en-US" dirty="0"/>
            </a:p>
            <a:p>
              <a:pPr>
                <a:lnSpc>
                  <a:spcPct val="108000"/>
                </a:lnSpc>
                <a:spcAft>
                  <a:spcPts val="1000"/>
                </a:spcAft>
              </a:pPr>
              <a:r>
                <a:rPr sz="1450" b="0" i="0">
                  <a:solidFill>
                    <a:srgbClr val="5D6B82"/>
                  </a:solidFill>
                  <a:latin typeface="Aptos"/>
                </a:rPr>
                <a:t>Turn any question into a narrated, handwritten-style solution video — or a slide deck — in minutes, composed on PW's branded base slide.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Natural voice narration (ElevenLabs / Edge TTS), English or Hindi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Handwriting-style working with an animated tick on the right option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Exports an MP4 video or a PPTX deck per question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Faculty recording: 1 day → ~30 min per 100 questions</a:t>
              </a:r>
            </a:p>
            <a:p>
              <a:pPr>
                <a:lnSpc>
                  <a:spcPct val="105000"/>
                </a:lnSpc>
                <a:spcBef>
                  <a:spcPts val="600"/>
                </a:spcBef>
              </a:pPr>
              <a:r>
                <a:rPr sz="1350" b="1" i="1">
                  <a:solidFill>
                    <a:srgbClr val="1B75BB"/>
                  </a:solidFill>
                  <a:latin typeface="Aptos"/>
                </a:rPr>
                <a:t>Scales solution videos without faculty studio time.</a:t>
              </a:r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A5FB644F-36A0-D6AB-A900-F35E725EE06A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0AD622-651D-5A1C-38FF-40542E1D8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2420124-6E94-E99B-B9B5-C9978B1C2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9F180079-A992-7843-E40A-B484A9EDC1B0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669280" y="2450592"/>
            <a:ext cx="5989320" cy="3743553"/>
          </a:xfrm>
          <a:prstGeom prst="roundRect">
            <a:avLst>
              <a:gd name="adj" fmla="val 4000"/>
            </a:avLst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395728"/>
            <a:ext cx="5989320" cy="3743553"/>
          </a:xfrm>
          <a:prstGeom prst="rect">
            <a:avLst/>
          </a:prstGeom>
          <a:ln w="15875">
            <a:solidFill>
              <a:srgbClr val="0B1F4D"/>
            </a:solidFill>
          </a:ln>
        </p:spPr>
      </p:pic>
    </p:spTree>
    <p:extLst>
      <p:ext uri="{BB962C8B-B14F-4D97-AF65-F5344CB8AC3E}">
        <p14:creationId xmlns:p14="http://schemas.microsoft.com/office/powerpoint/2010/main" val="160833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DD7C-5677-33F2-EED4-87A49AEC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B90391A-D68E-03B9-499C-EE8344D3C605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5EB1C8C8-8DD3-2AF6-6390-EB1417DF484C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F92A095-FEA8-700F-0056-E4EDB8A6814E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MVP Content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E85F24B1-4A2B-C307-7275-6AA5226CE138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AAFD53F-DDA0-C3FC-2448-225D11E7EE39}"/>
                </a:ext>
              </a:extLst>
            </p:cNvPr>
            <p:cNvSpPr/>
            <p:nvPr/>
          </p:nvSpPr>
          <p:spPr>
            <a:xfrm>
              <a:off x="658368" y="2377440"/>
              <a:ext cx="4709160" cy="3886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2000"/>
                </a:lnSpc>
                <a:spcAft>
                  <a:spcPts val="800"/>
                </a:spcAft>
              </a:pPr>
              <a:r>
                <a:rPr sz="1800" b="1" i="0">
                  <a:solidFill>
                    <a:srgbClr val="0B1F4D"/>
                  </a:solidFill>
                  <a:latin typeface="Aptos Display"/>
                </a:rPr>
                <a:t>Bulk PDF import — zero manual typing</a:t>
              </a:r>
              <a:endParaRPr lang="en-US" dirty="0"/>
            </a:p>
            <a:p>
              <a:pPr>
                <a:lnSpc>
                  <a:spcPct val="108000"/>
                </a:lnSpc>
                <a:spcAft>
                  <a:spcPts val="1000"/>
                </a:spcAft>
              </a:pPr>
              <a:r>
                <a:rPr sz="1450" b="0" i="0">
                  <a:solidFill>
                    <a:srgbClr val="5D6B82"/>
                  </a:solidFill>
                  <a:latin typeface="Aptos"/>
                </a:rPr>
                <a:t>Upload a question paper (and solutions) as PDF or Word. AI extracts every question, option, answer key, solution and metadata straight into the structured bank.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Replaces the DTP team's slow manual typing — 6 hrs → ~2 min per test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Single combined file, or separate question / solution files</a:t>
              </a:r>
            </a:p>
            <a:p>
              <a:pPr>
                <a:lnSpc>
                  <a:spcPct val="105000"/>
                </a:lnSpc>
                <a:spcAft>
                  <a:spcPts val="700"/>
                </a:spcAft>
              </a:pPr>
              <a:r>
                <a:rPr sz="1350" b="1" i="0">
                  <a:solidFill>
                    <a:srgbClr val="1B75BB"/>
                  </a:solidFill>
                  <a:latin typeface="Aptos"/>
                </a:rPr>
                <a:t>•  </a:t>
              </a:r>
              <a:r>
                <a:rPr sz="1350" b="0" i="0">
                  <a:solidFill>
                    <a:srgbClr val="5D6B82"/>
                  </a:solidFill>
                  <a:latin typeface="Aptos"/>
                </a:rPr>
                <a:t>Any provider — Gemini, Claude, OpenAI &amp; more — review before save</a:t>
              </a:r>
            </a:p>
            <a:p>
              <a:pPr>
                <a:lnSpc>
                  <a:spcPct val="105000"/>
                </a:lnSpc>
                <a:spcBef>
                  <a:spcPts val="600"/>
                </a:spcBef>
              </a:pPr>
              <a:r>
                <a:rPr sz="1350" b="1" i="1">
                  <a:solidFill>
                    <a:srgbClr val="1B75BB"/>
                  </a:solidFill>
                  <a:latin typeface="Aptos"/>
                </a:rPr>
                <a:t>The biggest DTP &amp; data-entry time saver in the workflow.</a:t>
              </a:r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E719D2D2-3300-14B2-B0B5-E1BEBD23C2FE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C88ED9-FA39-68AE-CFF1-B6A631A01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26D14D-D133-B505-6654-78D2D5E37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D2C37C49-4B35-08F8-AFDB-FD7B1265FC8E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669280" y="2450592"/>
            <a:ext cx="5989320" cy="3743553"/>
          </a:xfrm>
          <a:prstGeom prst="roundRect">
            <a:avLst>
              <a:gd name="adj" fmla="val 4000"/>
            </a:avLst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up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395728"/>
            <a:ext cx="5989320" cy="3743553"/>
          </a:xfrm>
          <a:prstGeom prst="rect">
            <a:avLst/>
          </a:prstGeom>
          <a:ln w="15875">
            <a:solidFill>
              <a:srgbClr val="0B1F4D"/>
            </a:solidFill>
          </a:ln>
        </p:spPr>
      </p:pic>
    </p:spTree>
    <p:extLst>
      <p:ext uri="{BB962C8B-B14F-4D97-AF65-F5344CB8AC3E}">
        <p14:creationId xmlns:p14="http://schemas.microsoft.com/office/powerpoint/2010/main" val="420984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A6C62C1-F694-217E-4C6D-DC3EA993D429}"/>
              </a:ext>
            </a:extLst>
          </p:cNvPr>
          <p:cNvGrpSpPr/>
          <p:nvPr/>
        </p:nvGrpSpPr>
        <p:grpSpPr>
          <a:xfrm>
            <a:off x="0" y="-403413"/>
            <a:ext cx="12191695" cy="5094285"/>
            <a:chOff x="0" y="-403413"/>
            <a:chExt cx="12191695" cy="5094285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A2742450-A5D9-1FD6-F2DC-D3766748CBFC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B287EEB-CA26-0196-9B27-30D69D4DD914}"/>
                </a:ext>
              </a:extLst>
            </p:cNvPr>
            <p:cNvSpPr/>
            <p:nvPr/>
          </p:nvSpPr>
          <p:spPr>
            <a:xfrm>
              <a:off x="658368" y="1564345"/>
              <a:ext cx="10789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30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What's Next — Roadmap &amp; Commercial Upside</a:t>
              </a:r>
              <a:endParaRPr lang="en-US" sz="3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D25434B7-2618-0634-D7B6-DC5506EFC18B}"/>
                </a:ext>
              </a:extLst>
            </p:cNvPr>
            <p:cNvSpPr/>
            <p:nvPr/>
          </p:nvSpPr>
          <p:spPr>
            <a:xfrm>
              <a:off x="658368" y="2278469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B9A966CD-D0D2-3589-45E7-3FAFFEE46796}"/>
                </a:ext>
              </a:extLst>
            </p:cNvPr>
            <p:cNvSpPr/>
            <p:nvPr/>
          </p:nvSpPr>
          <p:spPr>
            <a:xfrm>
              <a:off x="658368" y="2395728"/>
              <a:ext cx="10881360" cy="8686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08000"/>
                </a:lnSpc>
              </a:pPr>
              <a:r>
                <a:rPr sz="1550" b="0" i="0">
                  <a:solidFill>
                    <a:srgbClr val="5D6B82"/>
                  </a:solidFill>
                  <a:latin typeface="Aptos"/>
                </a:rPr>
                <a:t>Phase 1 ships the verified question bank and AI toolkit. Phase 2 turns PW's biggest asset — student performance data — into truly personalised practice, and opens a new revenue line by licensing the platform to other institutes.</a:t>
              </a:r>
              <a:endParaRPr lang="en-US" dirty="0"/>
            </a:p>
          </p:txBody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F2523F34-5398-E663-358C-3F935F49E6A2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9D8980-A5CB-A8AB-89F8-47EF3BD53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9CC10D-6E1A-1C5D-6C79-0F871335E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F3097927-FBD2-F964-8BAA-84A38E57A573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58368" y="3200400"/>
            <a:ext cx="5280660" cy="29077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383280"/>
            <a:ext cx="4805172" cy="2542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B75BB"/>
                </a:solidFill>
                <a:latin typeface="Aptos Display"/>
              </a:rPr>
              <a:t>P H A S E   2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650" b="1" i="0">
                <a:solidFill>
                  <a:srgbClr val="0B1F4D"/>
                </a:solidFill>
                <a:latin typeface="Aptos Display"/>
              </a:rPr>
              <a:t>Personalised Practice Papers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Verified DB first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then enrich every question with real usage metadata.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Signals captured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avg time-to-correct answer, correct-vs-wrong attempt rate, true (data-driven) difficulty.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Adaptive delivery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each student is served questions matched to their current level.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0B1F4D"/>
                </a:solidFill>
                <a:latin typeface="Aptos"/>
              </a:rPr>
              <a:t>Why it works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data is gold, and a huge number of students already use the PW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9924" y="3200400"/>
            <a:ext cx="5280660" cy="2907792"/>
          </a:xfrm>
          <a:prstGeom prst="roundRect">
            <a:avLst>
              <a:gd name="adj" fmla="val 6000"/>
            </a:avLst>
          </a:prstGeom>
          <a:solidFill>
            <a:srgbClr val="ECF6F0"/>
          </a:solidFill>
          <a:ln w="12700">
            <a:solidFill>
              <a:srgbClr val="CFE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7668" y="3383280"/>
            <a:ext cx="4805172" cy="2542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E8E5A"/>
                </a:solidFill>
                <a:latin typeface="Aptos Display"/>
              </a:rPr>
              <a:t>N E W   R E V E N U 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650" b="1" i="0">
                <a:solidFill>
                  <a:srgbClr val="1E8E5A"/>
                </a:solidFill>
                <a:latin typeface="Aptos Display"/>
              </a:rPr>
              <a:t>Productise &amp; License It Out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1E8E5A"/>
                </a:solidFill>
                <a:latin typeface="Aptos"/>
              </a:rPr>
              <a:t>Sell to other coaching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offer the platform as a white-label / SaaS product to other institutes.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1E8E5A"/>
                </a:solidFill>
                <a:latin typeface="Aptos"/>
              </a:rPr>
              <a:t>Test papers on demand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exam-pattern papers, QC &amp; video solutions in a few clicks, downloadable as PDF / Word.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B75BB"/>
                </a:solidFill>
                <a:latin typeface="Aptos"/>
              </a:rPr>
              <a:t>•  </a:t>
            </a:r>
            <a:r>
              <a:rPr sz="1250" b="1" i="0">
                <a:solidFill>
                  <a:srgbClr val="1E8E5A"/>
                </a:solidFill>
                <a:latin typeface="Aptos"/>
              </a:rPr>
              <a:t>New revenue stream — </a:t>
            </a:r>
            <a:r>
              <a:rPr sz="1250" b="0" i="0">
                <a:solidFill>
                  <a:srgbClr val="5D6B82"/>
                </a:solidFill>
                <a:latin typeface="Aptos"/>
              </a:rPr>
              <a:t>monetise the platform externally, beyond internal cost savings.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9B28-E14A-4A3A-1597-34EB96C2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B8F9071-2858-D7EE-EB7C-B70AD5E04C5D}"/>
              </a:ext>
            </a:extLst>
          </p:cNvPr>
          <p:cNvGrpSpPr/>
          <p:nvPr/>
        </p:nvGrpSpPr>
        <p:grpSpPr>
          <a:xfrm>
            <a:off x="0" y="-403413"/>
            <a:ext cx="12191695" cy="3345274"/>
            <a:chOff x="0" y="-403413"/>
            <a:chExt cx="12191695" cy="3345274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4CD8E694-EE07-2DED-2EDD-63F7889262AB}"/>
                </a:ext>
              </a:extLst>
            </p:cNvPr>
            <p:cNvSpPr/>
            <p:nvPr/>
          </p:nvSpPr>
          <p:spPr>
            <a:xfrm>
              <a:off x="502920" y="397764"/>
              <a:ext cx="62179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PW</a:t>
              </a:r>
              <a:endParaRPr lang="en-US" sz="10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02E81C5-196C-1BD3-C10D-286892CAFF34}"/>
                </a:ext>
              </a:extLst>
            </p:cNvPr>
            <p:cNvSpPr/>
            <p:nvPr/>
          </p:nvSpPr>
          <p:spPr>
            <a:xfrm>
              <a:off x="658368" y="2227735"/>
              <a:ext cx="338471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sz="4400" b="1" dirty="0">
                  <a:solidFill>
                    <a:srgbClr val="0B1F4D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Thank You</a:t>
              </a:r>
              <a:endParaRPr lang="en-US" sz="44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31BD88CC-B96F-78D1-EA76-E28180E38996}"/>
                </a:ext>
              </a:extLst>
            </p:cNvPr>
            <p:cNvSpPr/>
            <p:nvPr/>
          </p:nvSpPr>
          <p:spPr>
            <a:xfrm>
              <a:off x="658368" y="2941861"/>
              <a:ext cx="1143000" cy="0"/>
            </a:xfrm>
            <a:prstGeom prst="line">
              <a:avLst/>
            </a:prstGeom>
            <a:noFill/>
            <a:ln w="38100">
              <a:solidFill>
                <a:srgbClr val="1B75BB"/>
              </a:solidFill>
              <a:prstDash val="solid"/>
            </a:ln>
          </p:spPr>
        </p:sp>
        <p:sp>
          <p:nvSpPr>
            <p:cNvPr id="2" name="Shape 1">
              <a:extLst>
                <a:ext uri="{FF2B5EF4-FFF2-40B4-BE49-F238E27FC236}">
                  <a16:creationId xmlns:a16="http://schemas.microsoft.com/office/drawing/2014/main" id="{4A46438C-C8A9-C840-AF6F-67EA66EBFBCA}"/>
                </a:ext>
              </a:extLst>
            </p:cNvPr>
            <p:cNvSpPr/>
            <p:nvPr/>
          </p:nvSpPr>
          <p:spPr>
            <a:xfrm>
              <a:off x="0" y="-403413"/>
              <a:ext cx="12191695" cy="1514139"/>
            </a:xfrm>
            <a:prstGeom prst="rect">
              <a:avLst/>
            </a:prstGeom>
            <a:solidFill>
              <a:srgbClr val="0B1F4D"/>
            </a:solidFill>
            <a:ln w="12700">
              <a:solidFill>
                <a:srgbClr val="0B1F4D"/>
              </a:solidFill>
              <a:prstDash val="solid"/>
            </a:ln>
          </p:spPr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AC1FCA-6D3B-E642-2195-47298FEE1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311" y="-267697"/>
              <a:ext cx="1472633" cy="147263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72D04B7-2222-937F-A051-C7339CFE5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0400" y="-209575"/>
              <a:ext cx="3003899" cy="2088345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BF8DCA4F-57C8-5284-33E0-332C11DA54AF}"/>
                </a:ext>
              </a:extLst>
            </p:cNvPr>
            <p:cNvSpPr/>
            <p:nvPr/>
          </p:nvSpPr>
          <p:spPr>
            <a:xfrm>
              <a:off x="5255934" y="311147"/>
              <a:ext cx="6309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bg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 HACKATHON  |  GRAND FINALE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Text 7">
            <a:extLst>
              <a:ext uri="{FF2B5EF4-FFF2-40B4-BE49-F238E27FC236}">
                <a16:creationId xmlns:a16="http://schemas.microsoft.com/office/drawing/2014/main" id="{4A9258A0-A31C-02AA-B524-9837D2079EC2}"/>
              </a:ext>
            </a:extLst>
          </p:cNvPr>
          <p:cNvSpPr/>
          <p:nvPr/>
        </p:nvSpPr>
        <p:spPr>
          <a:xfrm>
            <a:off x="703193" y="3182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F4D"/>
                </a:solidFill>
                <a:latin typeface="Aptos" pitchFamily="34" charset="0"/>
              </a:rPr>
              <a:t>AI Content </a:t>
            </a:r>
            <a:r>
              <a:rPr lang="en-US" sz="2000" dirty="0" err="1">
                <a:solidFill>
                  <a:srgbClr val="0B1F4D"/>
                </a:solidFill>
                <a:latin typeface="Aptos" pitchFamily="34" charset="0"/>
              </a:rPr>
              <a:t>Wallah</a:t>
            </a:r>
            <a:endParaRPr lang="en-US" sz="200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13FB1D8F-CB7D-4E8B-FC86-E094A93A6CCC}"/>
              </a:ext>
            </a:extLst>
          </p:cNvPr>
          <p:cNvSpPr/>
          <p:nvPr/>
        </p:nvSpPr>
        <p:spPr>
          <a:xfrm>
            <a:off x="658368" y="3742284"/>
            <a:ext cx="5943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400" b="0" i="0">
                <a:solidFill>
                  <a:srgbClr val="5D6B82"/>
                </a:solidFill>
                <a:latin typeface="Aptos"/>
              </a:rPr>
              <a:t>Thank you for your time. We'd love to hear your questions and feedback.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5430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1209</Words>
  <Application>Microsoft Office PowerPoint</Application>
  <PresentationFormat>Widescreen</PresentationFormat>
  <Paragraphs>125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Physics Wallah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Hackathon Grand Finale - Formal Professional Template</dc:title>
  <dc:subject>AI Hackathon Grand Finale Presentation Template</dc:subject>
  <dc:creator>OpenAI</dc:creator>
  <cp:lastModifiedBy>Lovee Mittal</cp:lastModifiedBy>
  <cp:revision>8</cp:revision>
  <dcterms:created xsi:type="dcterms:W3CDTF">2026-05-30T08:53:29Z</dcterms:created>
  <dcterms:modified xsi:type="dcterms:W3CDTF">2026-06-16T01:18:04Z</dcterms:modified>
</cp:coreProperties>
</file>