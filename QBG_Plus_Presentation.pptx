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65760"/>
            <a:ext cx="201168" cy="201168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918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E1B4B"/>
                </a:solidFill>
                <a:latin typeface="Calibri"/>
              </a:rPr>
              <a:t>QBG+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5661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AI-Powered Question Bank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 / 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55080"/>
            <a:ext cx="548640" cy="254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366F1"/>
                </a:solidFill>
                <a:latin typeface="Calibri"/>
              </a:rPr>
              <a:t>PRODUCT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1E1B4B"/>
                </a:solidFill>
                <a:latin typeface="Calibri"/>
              </a:rPr>
              <a:t>QBG+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F2937"/>
                </a:solidFill>
                <a:latin typeface="Calibri"/>
              </a:rPr>
              <a:t>An AI-powered, unified platform for managing the JEE / NEET question bank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88920"/>
            <a:ext cx="1097280" cy="635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3200400"/>
            <a:ext cx="3576218" cy="30175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777240" y="3520440"/>
            <a:ext cx="457200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703320"/>
            <a:ext cx="29361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E1B4B"/>
                </a:solidFill>
                <a:latin typeface="Calibri"/>
              </a:rPr>
              <a:t>Manage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06240"/>
            <a:ext cx="293613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Browse, tag, edit &amp; batch 15 K+ questions with rich metadata, RBAC, and a full audit trail.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7738" y="3200400"/>
            <a:ext cx="3576218" cy="30175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627778" y="3520440"/>
            <a:ext cx="457200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27778" y="3703320"/>
            <a:ext cx="29361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E1B4B"/>
                </a:solidFill>
                <a:latin typeface="Calibri"/>
              </a:rPr>
              <a:t>Automate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7778" y="4206240"/>
            <a:ext cx="293613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One-click test paper generation, AI QC, AI translation, modification, and repeat-check — all built in.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8276" y="3200400"/>
            <a:ext cx="3576218" cy="30175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478316" y="3520440"/>
            <a:ext cx="457200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78316" y="3703320"/>
            <a:ext cx="29361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E1B4B"/>
                </a:solidFill>
                <a:latin typeface="Calibri"/>
              </a:rPr>
              <a:t>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8316" y="4206240"/>
            <a:ext cx="293613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Multi-stage QC workflow with named verifiers (1st QC → 2nd QC → UAT) and a per-question edit history.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65760"/>
            <a:ext cx="201168" cy="201168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918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E1B4B"/>
                </a:solidFill>
                <a:latin typeface="Calibri"/>
              </a:rPr>
              <a:t>QBG+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5661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AI-Powered Question Bank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 / 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55080"/>
            <a:ext cx="548640" cy="254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366F1"/>
                </a:solidFill>
                <a:latin typeface="Calibr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E1B4B"/>
                </a:solidFill>
                <a:latin typeface="Calibri"/>
              </a:rPr>
              <a:t>Current challenges with QBG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65960"/>
            <a:ext cx="822960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" y="2331720"/>
            <a:ext cx="292608" cy="292608"/>
          </a:xfrm>
          <a:prstGeom prst="ellipse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2257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Calibr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8600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E1B4B"/>
                </a:solidFill>
                <a:latin typeface="Calibri"/>
              </a:rPr>
              <a:t>No one-click test paper generation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517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Selecting questions and assembling a paper is a manual, multi-hour exercise.</a:t>
            </a:r>
          </a:p>
        </p:txBody>
      </p:sp>
      <p:sp>
        <p:nvSpPr>
          <p:cNvPr id="14" name="Oval 13"/>
          <p:cNvSpPr/>
          <p:nvPr/>
        </p:nvSpPr>
        <p:spPr>
          <a:xfrm>
            <a:off x="6172200" y="2331720"/>
            <a:ext cx="292608" cy="292608"/>
          </a:xfrm>
          <a:prstGeom prst="ellipse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32257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Calibri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28600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E1B4B"/>
                </a:solidFill>
                <a:latin typeface="Calibri"/>
              </a:rPr>
              <a:t>Question repetition within a batch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6517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No safeguard against the same question appearing twice in the same test series.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3200400"/>
            <a:ext cx="292608" cy="292608"/>
          </a:xfrm>
          <a:prstGeom prst="ellipse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19125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Calibri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15468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E1B4B"/>
                </a:solidFill>
                <a:latin typeface="Calibri"/>
              </a:rPr>
              <a:t>Slow content workflow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5204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Filter → copy → paste → format → review — the round trip kills throughput.</a:t>
            </a:r>
          </a:p>
        </p:txBody>
      </p:sp>
      <p:sp>
        <p:nvSpPr>
          <p:cNvPr id="22" name="Oval 21"/>
          <p:cNvSpPr/>
          <p:nvPr/>
        </p:nvSpPr>
        <p:spPr>
          <a:xfrm>
            <a:off x="6172200" y="3200400"/>
            <a:ext cx="292608" cy="292608"/>
          </a:xfrm>
          <a:prstGeom prst="ellipse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319125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Calibri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15468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E1B4B"/>
                </a:solidFill>
                <a:latin typeface="Calibri"/>
              </a:rPr>
              <a:t>No Single-Digit Integer filter for JEE Advanced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5204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Reviewers manually re-filter to extract the right question type for the paper.</a:t>
            </a:r>
          </a:p>
        </p:txBody>
      </p:sp>
      <p:sp>
        <p:nvSpPr>
          <p:cNvPr id="26" name="Oval 25"/>
          <p:cNvSpPr/>
          <p:nvPr/>
        </p:nvSpPr>
        <p:spPr>
          <a:xfrm>
            <a:off x="457200" y="4069080"/>
            <a:ext cx="292608" cy="292608"/>
          </a:xfrm>
          <a:prstGeom prst="ellipse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05993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Calibri"/>
              </a:rPr>
              <a:t>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0233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E1B4B"/>
                </a:solidFill>
                <a:latin typeface="Calibri"/>
              </a:rPr>
              <a:t>No saved exam presets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3891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JEE Advanced 2020 / 2021 / 2022 patterns must be rebuilt from scratch every time.</a:t>
            </a:r>
          </a:p>
        </p:txBody>
      </p:sp>
      <p:sp>
        <p:nvSpPr>
          <p:cNvPr id="30" name="Oval 29"/>
          <p:cNvSpPr/>
          <p:nvPr/>
        </p:nvSpPr>
        <p:spPr>
          <a:xfrm>
            <a:off x="6172200" y="4069080"/>
            <a:ext cx="292608" cy="292608"/>
          </a:xfrm>
          <a:prstGeom prst="ellipse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72200" y="405993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Calibri"/>
              </a:rPr>
              <a:t>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40233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E1B4B"/>
                </a:solidFill>
                <a:latin typeface="Calibri"/>
              </a:rPr>
              <a:t>No AI tooling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43891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QC, translation, modification and repeat-check all happen outside the platform.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65760"/>
            <a:ext cx="201168" cy="201168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918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E1B4B"/>
                </a:solidFill>
                <a:latin typeface="Calibri"/>
              </a:rPr>
              <a:t>QBG+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5661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AI-Powered Question Bank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3 / 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55080"/>
            <a:ext cx="548640" cy="254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366F1"/>
                </a:solidFill>
                <a:latin typeface="Calibri"/>
              </a:rPr>
              <a:t>THE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E1B4B"/>
                </a:solidFill>
                <a:latin typeface="Calibri"/>
              </a:rPr>
              <a:t>From fragmented tools to a single platform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65960"/>
            <a:ext cx="822960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2377440"/>
            <a:ext cx="5212080" cy="402336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26517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F4444"/>
                </a:solidFill>
                <a:latin typeface="Calibri"/>
              </a:rPr>
              <a:t>TODAY — FRAGMENTED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718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E1B4B"/>
                </a:solidFill>
                <a:latin typeface="Calibri"/>
              </a:rPr>
              <a:t>Teams stitching tools together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57600"/>
            <a:ext cx="4572000" cy="2560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>
                <a:solidFill>
                  <a:srgbClr val="1F2937"/>
                </a:solidFill>
                <a:latin typeface="Calibri"/>
              </a:rPr>
              <a:t>•  Gemini Gems for AI QC and modification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1F2937"/>
                </a:solidFill>
                <a:latin typeface="Calibri"/>
              </a:rPr>
              <a:t>•  Google Sheets + custom scripts for batch tracking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1F2937"/>
                </a:solidFill>
                <a:latin typeface="Calibri"/>
              </a:rPr>
              <a:t>•  Manual Word / Doc preparation for the paper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1F2937"/>
                </a:solidFill>
                <a:latin typeface="Calibri"/>
              </a:rPr>
              <a:t>•  Email / Slack threads for review handoffs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1F2937"/>
                </a:solidFill>
                <a:latin typeface="Calibri"/>
              </a:rPr>
              <a:t>•  Separate logins, formats, lag at each step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715000" y="4114800"/>
            <a:ext cx="777240" cy="457200"/>
          </a:xfrm>
          <a:prstGeom prst="rightArrow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0" y="2377440"/>
            <a:ext cx="5212080" cy="402336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903720" y="26517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Calibri"/>
              </a:rPr>
              <a:t>WITH QBG+ — UNIFIED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29718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E1B4B"/>
                </a:solidFill>
                <a:latin typeface="Calibri"/>
              </a:rPr>
              <a:t>One platform, end-to-end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3657600"/>
            <a:ext cx="4572000" cy="2560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>
                <a:solidFill>
                  <a:srgbClr val="1F2937"/>
                </a:solidFill>
                <a:latin typeface="Calibri"/>
              </a:rPr>
              <a:t>•  AI QC, modification, translation, repeat-check — all built in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1F2937"/>
                </a:solidFill>
                <a:latin typeface="Calibri"/>
              </a:rPr>
              <a:t>•  Batches, metadata tagging, presets all in-app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1F2937"/>
                </a:solidFill>
                <a:latin typeface="Calibri"/>
              </a:rPr>
              <a:t>•  QC workflow: Pending → Verified → 2x Verified → UAT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1F2937"/>
                </a:solidFill>
                <a:latin typeface="Calibri"/>
              </a:rPr>
              <a:t>•  Role-based access + full per-question audit history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1F2937"/>
                </a:solidFill>
                <a:latin typeface="Calibri"/>
              </a:rPr>
              <a:t>•  Single sign-on, one UI, instant handoffs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65760"/>
            <a:ext cx="201168" cy="201168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918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E1B4B"/>
                </a:solidFill>
                <a:latin typeface="Calibri"/>
              </a:rPr>
              <a:t>QBG+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5661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AI-Powered Question Bank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4 / 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55080"/>
            <a:ext cx="548640" cy="254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366F1"/>
                </a:solidFill>
                <a:latin typeface="Calibri"/>
              </a:rPr>
              <a:t>WHY IT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E1B4B"/>
                </a:solidFill>
                <a:latin typeface="Calibri"/>
              </a:rPr>
              <a:t>Business impact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65960"/>
            <a:ext cx="822960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2468880"/>
            <a:ext cx="3576218" cy="34747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57200" y="2468880"/>
            <a:ext cx="3576218" cy="762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88920"/>
            <a:ext cx="284469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366F1"/>
                </a:solidFill>
                <a:latin typeface="Calibri"/>
              </a:rPr>
              <a:t>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108960"/>
            <a:ext cx="284469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E1B4B"/>
                </a:solidFill>
                <a:latin typeface="Calibri"/>
              </a:rPr>
              <a:t>Lower content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886200"/>
            <a:ext cx="2844698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Same content team output multiplied; fewer external AI subscriptions; less duplicated effort across tools.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7738" y="2468880"/>
            <a:ext cx="3576218" cy="34747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307738" y="2468880"/>
            <a:ext cx="3576218" cy="76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73498" y="2788920"/>
            <a:ext cx="284469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3498" y="3108960"/>
            <a:ext cx="284469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E1B4B"/>
                </a:solidFill>
                <a:latin typeface="Calibri"/>
              </a:rPr>
              <a:t>Faster TAT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3498" y="3886200"/>
            <a:ext cx="2844698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Test papers built in minutes instead of days. Presets + one-click generation cut every step that used to be manual.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58276" y="2468880"/>
            <a:ext cx="3576218" cy="34747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8158276" y="2468880"/>
            <a:ext cx="3576218" cy="76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24036" y="2788920"/>
            <a:ext cx="284469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Calibri"/>
              </a:rPr>
              <a:t>QUALITY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4036" y="3108960"/>
            <a:ext cx="284469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E1B4B"/>
                </a:solidFill>
                <a:latin typeface="Calibri"/>
              </a:rPr>
              <a:t>Fewer errors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24036" y="3886200"/>
            <a:ext cx="2844698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AI QC + double verification + UAT + immutable edit history. Every change attributable to a named faculty member.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65760"/>
            <a:ext cx="201168" cy="201168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918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E1B4B"/>
                </a:solidFill>
                <a:latin typeface="Calibri"/>
              </a:rPr>
              <a:t>QBG+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5661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AI-Powered Question Bank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5 / 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55080"/>
            <a:ext cx="548640" cy="254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366F1"/>
                </a:solidFill>
                <a:latin typeface="Calibri"/>
              </a:rPr>
              <a:t>WHAT'S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E1B4B"/>
                </a:solidFill>
                <a:latin typeface="Calibri"/>
              </a:rPr>
              <a:t>Future roadmap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65960"/>
            <a:ext cx="822960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" y="2377440"/>
            <a:ext cx="868680" cy="86868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77440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4688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E1B4B"/>
                </a:solidFill>
                <a:latin typeface="Calibri"/>
              </a:rPr>
              <a:t>Bulk test generation from Sheets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971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Drop syllabus + paper config into a Google Sheet — the QBG+ backend reads it and emits ready-to-print papers in bulk, with zero manual touch and zero errors.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657600"/>
            <a:ext cx="868680" cy="86868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657600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7490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E1B4B"/>
                </a:solidFill>
                <a:latin typeface="Calibri"/>
              </a:rPr>
              <a:t>AI tutor for student doubts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2519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An AI model trained on the question bank + solutions, answering student doubts in real-time with step-by-step explanations grounded in the same content.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4937760"/>
            <a:ext cx="868680" cy="86868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937760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029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E1B4B"/>
                </a:solidFill>
                <a:latin typeface="Calibri"/>
              </a:rPr>
              <a:t>Personalised practice papers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5321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Integrate student attempt data (time per question, accuracy patterns) and generate adaptive practice sets tailored to each student's pace and weak areas.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